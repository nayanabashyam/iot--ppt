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1" r:id="rId6"/>
    <p:sldId id="262" r:id="rId7"/>
    <p:sldId id="264" r:id="rId8"/>
    <p:sldId id="265" r:id="rId9"/>
    <p:sldId id="263" r:id="rId10"/>
    <p:sldId id="266" r:id="rId11"/>
    <p:sldId id="267" r:id="rId12"/>
    <p:sldId id="260" r:id="rId13"/>
  </p:sldIdLst>
  <p:sldSz cx="12192000" cy="6858000"/>
  <p:notesSz cx="6858000" cy="9144000"/>
  <p:defaultTextStyle>
    <a:defPPr lvl="0">
      <a:defRPr lang="en-US"/>
    </a:defPPr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D93FFC3-B787-4470-A31A-59077CB3BB6D}" v="4" dt="2026-01-23T08:11:56.183"/>
    <p1510:client id="{F2FC85D4-2253-43AC-BA43-FE456EFC372C}" v="10" dt="2026-01-23T19:07:40.5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39" d="100"/>
          <a:sy n="39" d="100"/>
        </p:scale>
        <p:origin x="60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4B42EA-9E9E-482E-857C-50E7F5F74F25}" type="datetimeFigureOut">
              <a:rPr lang="en-IN" smtClean="0"/>
              <a:t>23-01-2026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F2C565-26FC-4AE9-BDDB-165DEF158F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22450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F2C565-26FC-4AE9-BDDB-165DEF158F08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11541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F2C565-26FC-4AE9-BDDB-165DEF158F08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6688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F2C565-26FC-4AE9-BDDB-165DEF158F08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51447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D91D93-A3C3-9799-EF64-621EFE193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F81147-D3A2-5993-4D11-384CCE57B6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99D3CD-8C4C-75CC-DB62-FABD9CAB1B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E5EEC4-2CE2-95F1-3CA1-BDE614D469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F2C565-26FC-4AE9-BDDB-165DEF158F08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90802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826275-157D-D99B-3012-147F77721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BC1A5A-70FB-E9FD-65AC-45D1376790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6FCC47-3798-50C3-0711-7032DA31B7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282873-2693-9831-A4B2-E26F455B09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F2C565-26FC-4AE9-BDDB-165DEF158F08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55807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F2C565-26FC-4AE9-BDDB-165DEF158F08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51765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E38364-2B1F-D273-8FF0-FE9A9C225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71A7CE-C754-39F1-01EE-84BCBEC890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BD550C-00E2-BBE7-9FDB-B29EAE6CAA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777514-7003-8B62-21FD-C91BA18C54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F2C565-26FC-4AE9-BDDB-165DEF158F08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79244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1A7215-6C7E-5D44-AF00-7FC713F4F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B6008E-A22B-777A-9E30-98C2D56D93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9F1B28-E3C2-9C12-1803-D696517670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CFE347-2CD7-F155-460E-822AF808C5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F2C565-26FC-4AE9-BDDB-165DEF158F08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52868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F2C565-26FC-4AE9-BDDB-165DEF158F08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26737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A6040-2F92-4E28-B3BD-58926CEBBA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09510B-C052-471F-A3F3-E9FD022F7A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FF15A9-A114-46C6-A187-6BBCEB62C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08E68-9F8A-4A9F-AF12-BDFDC2004E9F}" type="datetime1">
              <a:rPr lang="en-IN" smtClean="0"/>
              <a:t>23-01-2026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027855-57EA-4B15-9984-0B57F27E3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29C9BC-5BD4-4C7C-A311-AB4217B2D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E106B-8933-499E-B64E-7DFAEA3B4E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37369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C0E7C-7216-4376-B385-DB931678E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2022A7-1393-4BA5-A933-17F8AEB332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2FF8AA-2A0D-4BE4-913A-D1A8B9A61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6C79B-3A48-4611-892A-9DE79C0A0192}" type="datetime1">
              <a:rPr lang="en-IN" smtClean="0"/>
              <a:t>23-01-2026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941D70-AB7B-47B3-B420-B79B2C83E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AFC80F-4A35-4562-A2F8-3D2AA3720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E106B-8933-499E-B64E-7DFAEA3B4E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51394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3F29A-3C0F-4A4D-92D2-CFF499B856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07EB75-107C-4A85-826C-74C80C255F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84B0DD-9D87-4E65-918F-06D006A4F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E5FC4-D370-464B-A06E-457ECAD69E84}" type="datetime1">
              <a:rPr lang="en-IN" smtClean="0"/>
              <a:t>23-01-2026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9F6D14-E4B8-406D-B8EF-E1A51CB26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017E01-4639-4478-A176-0576DBC8E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E106B-8933-499E-B64E-7DFAEA3B4E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2544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BEE2A-4B31-4299-91EB-40709CE8F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18E92E-191C-4427-9BEB-530D4F70C9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37735D-3608-49FD-ACC7-2D489B9A18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2009F2-283B-4A2B-B3EE-9A252B56B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E7878-20FE-4C2E-8C78-A855FE095A7E}" type="datetime1">
              <a:rPr lang="en-IN" smtClean="0"/>
              <a:t>23-01-2026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7DE50D-EFE9-40B0-9395-DE4CBF534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1928B2-E0B7-4467-B7DB-7F848CD4C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E106B-8933-499E-B64E-7DFAEA3B4E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913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6756C-339A-4367-8B26-982E8C36B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C13968-F16F-4DA0-B61C-882828435D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8FECA0-37FE-4F17-AA2E-C99A32B0CB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1E2D60-5E3C-444D-85FB-9382ACA05A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520DAD-4985-4E0B-AF64-7EA2662ED5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61D354-F4CC-4695-BD68-654C81B1A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B3058-E3BB-4823-8762-5C6F89557C29}" type="datetime1">
              <a:rPr lang="en-IN" smtClean="0"/>
              <a:t>23-01-2026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C8451A-8809-4C03-903A-E7EAE35C5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DFC9F4-CB4A-40CB-BFAA-931474EB1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E106B-8933-499E-B64E-7DFAEA3B4E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7549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B7BC0-99D2-4BA9-819C-441347B1B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28B129-F293-4F47-9043-6FF00D263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A5CFC-F4D1-42C5-A7C7-5B6E805C1581}" type="datetime1">
              <a:rPr lang="en-IN" smtClean="0"/>
              <a:t>23-01-2026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74F72A-5779-43A4-B96B-89FF47B29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672D66-666F-4D0B-B731-97E04CD33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E106B-8933-499E-B64E-7DFAEA3B4E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323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1BAAF9-65F3-4683-82FE-9DB38227B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50CF8-97C1-4599-A83F-07F9F35396C7}" type="datetime1">
              <a:rPr lang="en-IN" smtClean="0"/>
              <a:t>23-01-2026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918E1D4-705D-4DA8-8479-0FEEE324E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F15F62-ACB3-4ED6-9666-F8C2D33AC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E106B-8933-499E-B64E-7DFAEA3B4E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95149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C8633-BDFF-44E9-BA19-B07E6230A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4B19D1-056B-4C44-ABEC-218CBB7643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C90BEB-9B5D-4863-80B4-7F421CD530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18E5E8-D840-412D-97C1-CFC6BE645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6994A-0A29-4E48-A241-F8D60086EA3C}" type="datetime1">
              <a:rPr lang="en-IN" smtClean="0"/>
              <a:t>23-01-2026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0671BC-A4B8-456B-B93B-C68E51969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04C19D-0A70-4C8B-A873-E5B5C3B67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E106B-8933-499E-B64E-7DFAEA3B4E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98300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15028-807E-4484-94A7-9E5604D84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7DB926-3C30-4B65-8D30-FE4627B361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836963-48EC-45C6-AEC9-0ADCD03835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F468A5-A168-4CCF-A0B3-011DA783C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FC2AF-DE68-443B-B99D-8E826F1EAFAF}" type="datetime1">
              <a:rPr lang="en-IN" smtClean="0"/>
              <a:t>23-01-2026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0C3B7C-F84E-41B8-9F25-9115512F4E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B1FCF0-DD0A-4AFC-8B1F-88B7B85BC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E106B-8933-499E-B64E-7DFAEA3B4E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41981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4DF96-4C31-4415-A9C8-980434004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CCA3F9-7214-4C74-B612-979465F237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677ED4-6CDF-4E32-B617-CD2B7CB4A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5CB67-86B3-4C99-8FF8-3F5131B629A5}" type="datetime1">
              <a:rPr lang="en-IN" smtClean="0"/>
              <a:t>23-01-2026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1B8C3C-F7FA-435F-8D19-C959906BD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7CA63C-DAEF-4020-9746-895AF960E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E106B-8933-499E-B64E-7DFAEA3B4E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93706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AEA6405-20B0-4ACD-AA72-A324D32A3E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A78A3E-9557-44BA-872F-75D0EDBF8E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19931E-44AF-4214-9626-CD07835B8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70259-A48A-4813-9F2B-3CAD864A3794}" type="datetime1">
              <a:rPr lang="en-IN" smtClean="0"/>
              <a:t>23-01-2026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6A9D04-FF45-4DE5-B291-6E2BF05FE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F66822-E7B3-4028-9EEA-28F85FE64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E106B-8933-499E-B64E-7DFAEA3B4E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42318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94E711-2B5E-45F4-8A36-6C7E723BA5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D821C4-2D13-492C-ACD4-143BA32F9D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79368D-DA6D-4E3E-B64E-A50C390FBA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6AA276-F727-4F7E-B9E2-A14FEA8FDA45}" type="datetime1">
              <a:rPr lang="en-IN" smtClean="0"/>
              <a:t>23-01-2026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116A77-474B-409D-ADBA-5F60240821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BFB593-3BAC-4EDE-A910-C9906DB42F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DE106B-8933-499E-B64E-7DFAEA3B4E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1603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hyperlink" Target="https://cloud.google.com/security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loud.google.com/architecture" TargetMode="External"/><Relationship Id="rId5" Type="http://schemas.openxmlformats.org/officeDocument/2006/relationships/hyperlink" Target="https://cloud.google.com/docs" TargetMode="External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6F93BCC-7F94-40D4-81F8-9237CC4EC1FD}"/>
              </a:ext>
            </a:extLst>
          </p:cNvPr>
          <p:cNvSpPr/>
          <p:nvPr/>
        </p:nvSpPr>
        <p:spPr>
          <a:xfrm>
            <a:off x="193964" y="136524"/>
            <a:ext cx="11877963" cy="6584951"/>
          </a:xfrm>
          <a:prstGeom prst="rect">
            <a:avLst/>
          </a:prstGeom>
          <a:noFill/>
          <a:ln w="73025" cmpd="sng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6D76DE2-433A-4ED7-BD89-8E95C1DFB4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779" y="328027"/>
            <a:ext cx="1157273" cy="1324994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</p:pic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427CA1D6-E331-4837-A4D1-D4D390759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E106B-8933-499E-B64E-7DFAEA3B4E58}" type="slidenum">
              <a:rPr lang="en-IN" smtClean="0"/>
              <a:t>1</a:t>
            </a:fld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7351E69-D750-4B06-9064-0602566C3DCF}"/>
              </a:ext>
            </a:extLst>
          </p:cNvPr>
          <p:cNvSpPr txBox="1"/>
          <p:nvPr/>
        </p:nvSpPr>
        <p:spPr>
          <a:xfrm>
            <a:off x="1271195" y="2071038"/>
            <a:ext cx="964961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400" b="1" dirty="0">
                <a:solidFill>
                  <a:srgbClr val="C00000"/>
                </a:solidFill>
                <a:latin typeface="Libre Baskerville" panose="02000000000000000000" pitchFamily="2" charset="0"/>
              </a:rPr>
              <a:t>Department of Computer Science and Engineering</a:t>
            </a:r>
          </a:p>
          <a:p>
            <a:pPr algn="ctr">
              <a:lnSpc>
                <a:spcPct val="150000"/>
              </a:lnSpc>
            </a:pPr>
            <a:r>
              <a:rPr lang="en-US" sz="2400" b="1" dirty="0">
                <a:solidFill>
                  <a:srgbClr val="C00000"/>
                </a:solidFill>
                <a:latin typeface="Libre Baskerville" panose="02000000000000000000" pitchFamily="2" charset="0"/>
              </a:rPr>
              <a:t>Internet of Things(25MCS105D)          </a:t>
            </a:r>
          </a:p>
          <a:p>
            <a:pPr algn="ctr"/>
            <a:endParaRPr lang="en-US" sz="2400" b="1" dirty="0">
              <a:solidFill>
                <a:srgbClr val="C00000"/>
              </a:solidFill>
              <a:latin typeface="Bookman Old Style" panose="02050604050505020204" pitchFamily="18" charset="0"/>
            </a:endParaRPr>
          </a:p>
          <a:p>
            <a:pPr algn="ctr"/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latin typeface="Libre Baskerville" panose="02000000000000000000" pitchFamily="2" charset="0"/>
              </a:rPr>
              <a:t>Google Cloud Platform </a:t>
            </a:r>
            <a:endParaRPr lang="en-IN" sz="2800" b="1" dirty="0">
              <a:solidFill>
                <a:schemeClr val="accent1">
                  <a:lumMod val="75000"/>
                </a:schemeClr>
              </a:solidFill>
              <a:latin typeface="Libre Baskerville" panose="02000000000000000000" pitchFamily="2" charset="0"/>
            </a:endParaRPr>
          </a:p>
        </p:txBody>
      </p:sp>
      <p:sp>
        <p:nvSpPr>
          <p:cNvPr id="14" name="Content Placeholder 11">
            <a:extLst>
              <a:ext uri="{FF2B5EF4-FFF2-40B4-BE49-F238E27FC236}">
                <a16:creationId xmlns:a16="http://schemas.microsoft.com/office/drawing/2014/main" id="{7B0C3EDD-C2AE-4B86-AF80-80BA847639F4}"/>
              </a:ext>
            </a:extLst>
          </p:cNvPr>
          <p:cNvSpPr txBox="1">
            <a:spLocks/>
          </p:cNvSpPr>
          <p:nvPr/>
        </p:nvSpPr>
        <p:spPr>
          <a:xfrm>
            <a:off x="5077975" y="5065224"/>
            <a:ext cx="4626464" cy="7241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Libre Baskerville" panose="02000000000000000000" pitchFamily="2" charset="0"/>
              </a:rPr>
              <a:t>B Nayana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n-US" sz="2000" b="1" dirty="0">
              <a:solidFill>
                <a:schemeClr val="accent1">
                  <a:lumMod val="75000"/>
                </a:schemeClr>
              </a:solidFill>
              <a:latin typeface="Libre Baskerville" panose="02000000000000000000" pitchFamily="2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n-US" sz="2000" b="1" dirty="0">
              <a:solidFill>
                <a:schemeClr val="accent1">
                  <a:lumMod val="75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07010D-9BF4-1162-4A8B-60DC4DD0DA10}"/>
              </a:ext>
            </a:extLst>
          </p:cNvPr>
          <p:cNvSpPr txBox="1"/>
          <p:nvPr/>
        </p:nvSpPr>
        <p:spPr>
          <a:xfrm>
            <a:off x="2411508" y="444210"/>
            <a:ext cx="833914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Libre Baskerville" panose="02000000000000000000" pitchFamily="2" charset="0"/>
              </a:rPr>
              <a:t>K. S. INSTITUTE OF TECHNOLOGY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Libre Baskerville" panose="02000000000000000000" pitchFamily="2" charset="0"/>
              </a:rPr>
              <a:t>               </a:t>
            </a:r>
            <a:r>
              <a:rPr lang="en-US" sz="1600" b="1" dirty="0">
                <a:solidFill>
                  <a:schemeClr val="bg2">
                    <a:lumMod val="50000"/>
                  </a:schemeClr>
                </a:solidFill>
                <a:latin typeface="Libre Baskerville" panose="02000000000000000000" pitchFamily="2" charset="0"/>
              </a:rPr>
              <a:t>An Autonomous Institution under VTU, Approved by AICTE</a:t>
            </a:r>
          </a:p>
          <a:p>
            <a:r>
              <a:rPr lang="en-US" b="1" dirty="0">
                <a:solidFill>
                  <a:schemeClr val="bg2">
                    <a:lumMod val="50000"/>
                  </a:schemeClr>
                </a:solidFill>
              </a:rPr>
              <a:t>                </a:t>
            </a:r>
            <a:r>
              <a:rPr lang="en-US" sz="1300" b="1" dirty="0">
                <a:solidFill>
                  <a:schemeClr val="bg2">
                    <a:lumMod val="50000"/>
                  </a:schemeClr>
                </a:solidFill>
                <a:latin typeface="Libre Baskerville" panose="02000000000000000000" pitchFamily="2" charset="0"/>
              </a:rPr>
              <a:t>Accredited by NBA (CSE &amp; ECE), NAAC with A+ &amp; QS I-GAUGE (GOLD)</a:t>
            </a:r>
          </a:p>
          <a:p>
            <a:r>
              <a:rPr lang="en-US" sz="1400" b="1" dirty="0">
                <a:solidFill>
                  <a:schemeClr val="bg2">
                    <a:lumMod val="50000"/>
                  </a:schemeClr>
                </a:solidFill>
                <a:latin typeface="Libre Baskerville" panose="02000000000000000000" pitchFamily="2" charset="0"/>
              </a:rPr>
              <a:t>                         </a:t>
            </a:r>
            <a:r>
              <a:rPr lang="en-US" sz="1300" b="1" dirty="0">
                <a:solidFill>
                  <a:schemeClr val="bg2">
                    <a:lumMod val="50000"/>
                  </a:schemeClr>
                </a:solidFill>
                <a:latin typeface="Libre Baskerville" panose="02000000000000000000" pitchFamily="2" charset="0"/>
              </a:rPr>
              <a:t>No. 14, </a:t>
            </a:r>
            <a:r>
              <a:rPr lang="en-US" sz="1300" b="1" dirty="0" err="1">
                <a:solidFill>
                  <a:schemeClr val="bg2">
                    <a:lumMod val="50000"/>
                  </a:schemeClr>
                </a:solidFill>
                <a:latin typeface="Libre Baskerville" panose="02000000000000000000" pitchFamily="2" charset="0"/>
              </a:rPr>
              <a:t>Raghuvanahalli</a:t>
            </a:r>
            <a:r>
              <a:rPr lang="en-US" sz="1300" b="1" dirty="0">
                <a:solidFill>
                  <a:schemeClr val="bg2">
                    <a:lumMod val="50000"/>
                  </a:schemeClr>
                </a:solidFill>
                <a:latin typeface="Libre Baskerville" panose="02000000000000000000" pitchFamily="2" charset="0"/>
              </a:rPr>
              <a:t>, </a:t>
            </a:r>
            <a:r>
              <a:rPr lang="en-US" sz="1300" b="1" dirty="0" err="1">
                <a:solidFill>
                  <a:schemeClr val="bg2">
                    <a:lumMod val="50000"/>
                  </a:schemeClr>
                </a:solidFill>
                <a:latin typeface="Libre Baskerville" panose="02000000000000000000" pitchFamily="2" charset="0"/>
              </a:rPr>
              <a:t>Kanakapura</a:t>
            </a:r>
            <a:r>
              <a:rPr lang="en-US" sz="1300" b="1" dirty="0">
                <a:solidFill>
                  <a:schemeClr val="bg2">
                    <a:lumMod val="50000"/>
                  </a:schemeClr>
                </a:solidFill>
                <a:latin typeface="Libre Baskerville" panose="02000000000000000000" pitchFamily="2" charset="0"/>
              </a:rPr>
              <a:t> Road, Bengaluru – 560109</a:t>
            </a:r>
            <a:endParaRPr lang="en-IN" sz="1300" b="1" dirty="0">
              <a:solidFill>
                <a:schemeClr val="bg2">
                  <a:lumMod val="50000"/>
                </a:schemeClr>
              </a:solidFill>
              <a:latin typeface="Libre Baskerville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08820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D3A40A1E-15C9-4F5B-92E3-A3DA09271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370" y="187720"/>
            <a:ext cx="9358840" cy="896145"/>
          </a:xfrm>
          <a:noFill/>
          <a:ln w="34925" cmpd="sng">
            <a:solidFill>
              <a:schemeClr val="accent1">
                <a:shade val="50000"/>
              </a:schemeClr>
            </a:solidFill>
          </a:ln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Contents</a:t>
            </a:r>
            <a:endParaRPr lang="en-IN" sz="3600" b="1" dirty="0">
              <a:solidFill>
                <a:srgbClr val="C0000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6F93BCC-7F94-40D4-81F8-9237CC4EC1FD}"/>
              </a:ext>
            </a:extLst>
          </p:cNvPr>
          <p:cNvSpPr/>
          <p:nvPr/>
        </p:nvSpPr>
        <p:spPr>
          <a:xfrm>
            <a:off x="120072" y="90089"/>
            <a:ext cx="11942619" cy="6677822"/>
          </a:xfrm>
          <a:prstGeom prst="rect">
            <a:avLst/>
          </a:prstGeom>
          <a:noFill/>
          <a:ln w="73025" cmpd="sng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6D76DE2-433A-4ED7-BD89-8E95C1DFB4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889" y="187720"/>
            <a:ext cx="873901" cy="1000553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5B786F-E1BA-4BF1-B3B9-7B4FA0A61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E106B-8933-499E-B64E-7DFAEA3B4E58}" type="slidenum">
              <a:rPr lang="en-IN" smtClean="0"/>
              <a:t>2</a:t>
            </a:fld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11D8D6-990D-4463-B012-A9EE74C3D6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4370" y="1462451"/>
            <a:ext cx="9108187" cy="5259023"/>
          </a:xfrm>
        </p:spPr>
        <p:txBody>
          <a:bodyPr>
            <a:normAutofit fontScale="62500" lnSpcReduction="20000"/>
          </a:bodyPr>
          <a:lstStyle/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en-US" sz="3200" dirty="0">
                <a:solidFill>
                  <a:schemeClr val="tx2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en-US" sz="3200" dirty="0">
                <a:solidFill>
                  <a:schemeClr val="tx2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Data Flow </a:t>
            </a: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en-US" sz="3200" dirty="0">
                <a:solidFill>
                  <a:schemeClr val="tx2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Key Features</a:t>
            </a: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en-US" sz="3200" dirty="0">
                <a:solidFill>
                  <a:schemeClr val="tx2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Dashboard Exploration</a:t>
            </a: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en-US" sz="3200" dirty="0">
                <a:solidFill>
                  <a:schemeClr val="tx2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Architecture Overview </a:t>
            </a: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en-US" sz="3200" dirty="0">
                <a:solidFill>
                  <a:schemeClr val="tx2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Core GCP Services</a:t>
            </a: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en-US" sz="3200" dirty="0">
                <a:solidFill>
                  <a:schemeClr val="tx2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Use Case Mapping</a:t>
            </a: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en-US" sz="3200" dirty="0">
                <a:solidFill>
                  <a:schemeClr val="tx2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Limitations</a:t>
            </a: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en-US" sz="3200" dirty="0">
                <a:solidFill>
                  <a:schemeClr val="tx2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Future Scope</a:t>
            </a: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en-US" sz="3200" dirty="0">
                <a:solidFill>
                  <a:schemeClr val="tx2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References</a:t>
            </a:r>
          </a:p>
          <a:p>
            <a:pPr marL="0" lvl="0" indent="0" algn="just">
              <a:lnSpc>
                <a:spcPct val="107000"/>
              </a:lnSpc>
              <a:buNone/>
            </a:pPr>
            <a:endParaRPr lang="en-US" dirty="0">
              <a:solidFill>
                <a:schemeClr val="tx2"/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endParaRPr lang="en-US" dirty="0">
              <a:solidFill>
                <a:schemeClr val="tx2"/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endParaRPr lang="en-US" dirty="0">
              <a:solidFill>
                <a:schemeClr val="tx2"/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endParaRPr lang="en-US" dirty="0">
              <a:solidFill>
                <a:schemeClr val="tx2"/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endParaRPr lang="en-IN" dirty="0">
              <a:solidFill>
                <a:schemeClr val="tx2"/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22716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D3A40A1E-15C9-4F5B-92E3-A3DA09271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370" y="187720"/>
            <a:ext cx="9358840" cy="896145"/>
          </a:xfrm>
          <a:noFill/>
          <a:ln w="34925" cmpd="sng">
            <a:solidFill>
              <a:schemeClr val="accent1">
                <a:shade val="50000"/>
              </a:schemeClr>
            </a:solidFill>
          </a:ln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Bookman Old Style" panose="02050604050505020204" pitchFamily="18" charset="0"/>
              </a:rPr>
              <a:t>Introduction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6F93BCC-7F94-40D4-81F8-9237CC4EC1FD}"/>
              </a:ext>
            </a:extLst>
          </p:cNvPr>
          <p:cNvSpPr/>
          <p:nvPr/>
        </p:nvSpPr>
        <p:spPr>
          <a:xfrm>
            <a:off x="120072" y="90089"/>
            <a:ext cx="11942619" cy="6677822"/>
          </a:xfrm>
          <a:prstGeom prst="rect">
            <a:avLst/>
          </a:prstGeom>
          <a:noFill/>
          <a:ln w="73025" cmpd="sng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6D76DE2-433A-4ED7-BD89-8E95C1DFB4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889" y="187720"/>
            <a:ext cx="873901" cy="1000553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5B786F-E1BA-4BF1-B3B9-7B4FA0A61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E106B-8933-499E-B64E-7DFAEA3B4E58}" type="slidenum">
              <a:rPr lang="en-IN" smtClean="0"/>
              <a:t>3</a:t>
            </a:fld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11D8D6-990D-4463-B012-A9EE74C3D6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889" y="1762523"/>
            <a:ext cx="11260242" cy="5103019"/>
          </a:xfrm>
        </p:spPr>
        <p:txBody>
          <a:bodyPr>
            <a:normAutofit/>
          </a:bodyPr>
          <a:lstStyle/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Google Cloud Platform (GCP) is a suite of cloud computing services provided by google.</a:t>
            </a: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offers infrastructure, platform and software services for building, deploying, and scaling applications.</a:t>
            </a: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GCP runs on the same global infrastructure that powers google products like Search, Gmail, and YouTube.</a:t>
            </a: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enables organizations to store data, perform analytics, and develop applications efficiently.</a:t>
            </a:r>
          </a:p>
        </p:txBody>
      </p:sp>
    </p:spTree>
    <p:extLst>
      <p:ext uri="{BB962C8B-B14F-4D97-AF65-F5344CB8AC3E}">
        <p14:creationId xmlns:p14="http://schemas.microsoft.com/office/powerpoint/2010/main" val="22520779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D3A40A1E-15C9-4F5B-92E3-A3DA09271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370" y="187720"/>
            <a:ext cx="9358840" cy="896145"/>
          </a:xfrm>
          <a:noFill/>
          <a:ln w="34925" cmpd="sng">
            <a:solidFill>
              <a:schemeClr val="accent1">
                <a:shade val="50000"/>
              </a:schemeClr>
            </a:solidFill>
          </a:ln>
        </p:spPr>
        <p:txBody>
          <a:bodyPr>
            <a:normAutofit/>
          </a:bodyPr>
          <a:lstStyle/>
          <a:p>
            <a:pPr lvl="0" algn="ctr">
              <a:lnSpc>
                <a:spcPct val="107000"/>
              </a:lnSpc>
            </a:pPr>
            <a:r>
              <a:rPr lang="en-US" sz="3200" b="1" dirty="0">
                <a:solidFill>
                  <a:srgbClr val="C00000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Data Flow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6F93BCC-7F94-40D4-81F8-9237CC4EC1FD}"/>
              </a:ext>
            </a:extLst>
          </p:cNvPr>
          <p:cNvSpPr/>
          <p:nvPr/>
        </p:nvSpPr>
        <p:spPr>
          <a:xfrm>
            <a:off x="120072" y="90089"/>
            <a:ext cx="11942619" cy="6677822"/>
          </a:xfrm>
          <a:prstGeom prst="rect">
            <a:avLst/>
          </a:prstGeom>
          <a:noFill/>
          <a:ln w="73025" cmpd="sng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6D76DE2-433A-4ED7-BD89-8E95C1DFB4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889" y="187720"/>
            <a:ext cx="873901" cy="1000553"/>
          </a:xfrm>
          <a:prstGeom prst="rect">
            <a:avLst/>
          </a:prstGeom>
          <a:blipFill>
            <a:blip r:embed="rId4"/>
            <a:tile tx="0" ty="0" sx="100000" sy="100000" flip="none" algn="tl"/>
          </a:blipFill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5B786F-E1BA-4BF1-B3B9-7B4FA0A61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E106B-8933-499E-B64E-7DFAEA3B4E58}" type="slidenum">
              <a:rPr lang="en-IN" smtClean="0"/>
              <a:t>4</a:t>
            </a:fld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11D8D6-990D-4463-B012-A9EE74C3D6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889" y="1181496"/>
            <a:ext cx="11260242" cy="5103019"/>
          </a:xfrm>
        </p:spPr>
        <p:txBody>
          <a:bodyPr>
            <a:normAutofit/>
          </a:bodyPr>
          <a:lstStyle/>
          <a:p>
            <a:pPr marL="0" lvl="0" indent="0" algn="just">
              <a:lnSpc>
                <a:spcPct val="107000"/>
              </a:lnSpc>
              <a:spcAft>
                <a:spcPts val="800"/>
              </a:spcAft>
              <a:buNone/>
            </a:pPr>
            <a:endParaRPr lang="en-IN" sz="40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4400" dirty="0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5EAA0532-3402-AE01-A560-AF0E112AC6DF}"/>
              </a:ext>
            </a:extLst>
          </p:cNvPr>
          <p:cNvSpPr txBox="1">
            <a:spLocks/>
          </p:cNvSpPr>
          <p:nvPr/>
        </p:nvSpPr>
        <p:spPr>
          <a:xfrm>
            <a:off x="404889" y="1608806"/>
            <a:ext cx="11260242" cy="51030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is collected from users, devices, or applications and sent to GCP services.</a:t>
            </a:r>
          </a:p>
          <a:p>
            <a:pPr marL="34290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Incoming data is processed using compute services such as virtual machines or serverless functions.</a:t>
            </a:r>
          </a:p>
          <a:p>
            <a:pPr marL="34290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Processed data is stored in cloud storage or databases for futures access.</a:t>
            </a:r>
          </a:p>
          <a:p>
            <a:pPr marL="34290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results are </a:t>
            </a:r>
            <a:r>
              <a:rPr lang="en-IN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analyzed</a:t>
            </a: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delivered to applications, dashboards, or end users in real time.</a:t>
            </a:r>
          </a:p>
        </p:txBody>
      </p:sp>
    </p:spTree>
    <p:extLst>
      <p:ext uri="{BB962C8B-B14F-4D97-AF65-F5344CB8AC3E}">
        <p14:creationId xmlns:p14="http://schemas.microsoft.com/office/powerpoint/2010/main" val="21043115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D3A40A1E-15C9-4F5B-92E3-A3DA09271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370" y="187720"/>
            <a:ext cx="9358840" cy="896145"/>
          </a:xfrm>
          <a:noFill/>
          <a:ln w="34925" cmpd="sng">
            <a:solidFill>
              <a:schemeClr val="accent1">
                <a:shade val="50000"/>
              </a:schemeClr>
            </a:solidFill>
          </a:ln>
        </p:spPr>
        <p:txBody>
          <a:bodyPr>
            <a:normAutofit/>
          </a:bodyPr>
          <a:lstStyle/>
          <a:p>
            <a:pPr lvl="0" algn="ctr">
              <a:lnSpc>
                <a:spcPct val="107000"/>
              </a:lnSpc>
            </a:pPr>
            <a:r>
              <a:rPr lang="en-US" sz="3600" b="1" dirty="0">
                <a:solidFill>
                  <a:srgbClr val="C00000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Key Features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6F93BCC-7F94-40D4-81F8-9237CC4EC1FD}"/>
              </a:ext>
            </a:extLst>
          </p:cNvPr>
          <p:cNvSpPr/>
          <p:nvPr/>
        </p:nvSpPr>
        <p:spPr>
          <a:xfrm>
            <a:off x="120072" y="90089"/>
            <a:ext cx="11942619" cy="6677822"/>
          </a:xfrm>
          <a:prstGeom prst="rect">
            <a:avLst/>
          </a:prstGeom>
          <a:noFill/>
          <a:ln w="73025" cmpd="sng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6D76DE2-433A-4ED7-BD89-8E95C1DFB4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889" y="187720"/>
            <a:ext cx="873901" cy="1000553"/>
          </a:xfrm>
          <a:prstGeom prst="rect">
            <a:avLst/>
          </a:prstGeom>
          <a:blipFill>
            <a:blip r:embed="rId4"/>
            <a:tile tx="0" ty="0" sx="100000" sy="100000" flip="none" algn="tl"/>
          </a:blipFill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5B786F-E1BA-4BF1-B3B9-7B4FA0A61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E106B-8933-499E-B64E-7DFAEA3B4E58}" type="slidenum">
              <a:rPr lang="en-IN" smtClean="0"/>
              <a:t>5</a:t>
            </a:fld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11D8D6-990D-4463-B012-A9EE74C3D6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889" y="1181496"/>
            <a:ext cx="11260242" cy="5103019"/>
          </a:xfrm>
        </p:spPr>
        <p:txBody>
          <a:bodyPr>
            <a:normAutofit/>
          </a:bodyPr>
          <a:lstStyle/>
          <a:p>
            <a:pPr marL="0" lvl="0" indent="0" algn="just">
              <a:lnSpc>
                <a:spcPct val="107000"/>
              </a:lnSpc>
              <a:spcAft>
                <a:spcPts val="800"/>
              </a:spcAft>
              <a:buNone/>
            </a:pPr>
            <a:endParaRPr lang="en-IN" sz="40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4400" dirty="0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92D287BE-0ECE-8B60-E255-A379A0DC7052}"/>
              </a:ext>
            </a:extLst>
          </p:cNvPr>
          <p:cNvSpPr txBox="1">
            <a:spLocks/>
          </p:cNvSpPr>
          <p:nvPr/>
        </p:nvSpPr>
        <p:spPr>
          <a:xfrm>
            <a:off x="461260" y="1992285"/>
            <a:ext cx="11260242" cy="51030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Scalability</a:t>
            </a:r>
          </a:p>
          <a:p>
            <a:pPr marL="34290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 Availability</a:t>
            </a:r>
          </a:p>
          <a:p>
            <a:pPr marL="34290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Security</a:t>
            </a:r>
          </a:p>
          <a:p>
            <a:pPr marL="34290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Cost Efficiency</a:t>
            </a:r>
          </a:p>
          <a:p>
            <a:pPr marL="34290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&amp; ML Interrogation</a:t>
            </a:r>
          </a:p>
        </p:txBody>
      </p:sp>
    </p:spTree>
    <p:extLst>
      <p:ext uri="{BB962C8B-B14F-4D97-AF65-F5344CB8AC3E}">
        <p14:creationId xmlns:p14="http://schemas.microsoft.com/office/powerpoint/2010/main" val="25345746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D3A40A1E-15C9-4F5B-92E3-A3DA09271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370" y="187720"/>
            <a:ext cx="9358840" cy="896145"/>
          </a:xfrm>
          <a:noFill/>
          <a:ln w="34925" cmpd="sng">
            <a:solidFill>
              <a:schemeClr val="accent1">
                <a:shade val="50000"/>
              </a:schemeClr>
            </a:solidFill>
          </a:ln>
        </p:spPr>
        <p:txBody>
          <a:bodyPr>
            <a:normAutofit/>
          </a:bodyPr>
          <a:lstStyle/>
          <a:p>
            <a:pPr lvl="0" algn="ctr">
              <a:lnSpc>
                <a:spcPct val="107000"/>
              </a:lnSpc>
            </a:pPr>
            <a:r>
              <a:rPr lang="en-US" sz="3200" b="1" dirty="0">
                <a:solidFill>
                  <a:srgbClr val="C00000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Dashboard Exploration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6F93BCC-7F94-40D4-81F8-9237CC4EC1FD}"/>
              </a:ext>
            </a:extLst>
          </p:cNvPr>
          <p:cNvSpPr/>
          <p:nvPr/>
        </p:nvSpPr>
        <p:spPr>
          <a:xfrm>
            <a:off x="120072" y="90089"/>
            <a:ext cx="11942619" cy="6677822"/>
          </a:xfrm>
          <a:prstGeom prst="rect">
            <a:avLst/>
          </a:prstGeom>
          <a:noFill/>
          <a:ln w="73025" cmpd="sng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6D76DE2-433A-4ED7-BD89-8E95C1DFB4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889" y="187720"/>
            <a:ext cx="873901" cy="1000553"/>
          </a:xfrm>
          <a:prstGeom prst="rect">
            <a:avLst/>
          </a:prstGeom>
          <a:blipFill>
            <a:blip r:embed="rId4"/>
            <a:tile tx="0" ty="0" sx="100000" sy="100000" flip="none" algn="tl"/>
          </a:blipFill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5B786F-E1BA-4BF1-B3B9-7B4FA0A61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E106B-8933-499E-B64E-7DFAEA3B4E58}" type="slidenum">
              <a:rPr lang="en-IN" smtClean="0"/>
              <a:t>6</a:t>
            </a:fld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11D8D6-990D-4463-B012-A9EE74C3D6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889" y="1181496"/>
            <a:ext cx="11260242" cy="5103019"/>
          </a:xfrm>
        </p:spPr>
        <p:txBody>
          <a:bodyPr>
            <a:normAutofit/>
          </a:bodyPr>
          <a:lstStyle/>
          <a:p>
            <a:pPr marL="0" lvl="0" indent="0" algn="just">
              <a:lnSpc>
                <a:spcPct val="107000"/>
              </a:lnSpc>
              <a:spcAft>
                <a:spcPts val="800"/>
              </a:spcAft>
              <a:buNone/>
            </a:pPr>
            <a:endParaRPr lang="en-IN" sz="40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IN" sz="4400" dirty="0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5BEF799D-B11F-5968-9BAD-9451FCF64D23}"/>
              </a:ext>
            </a:extLst>
          </p:cNvPr>
          <p:cNvSpPr txBox="1">
            <a:spLocks/>
          </p:cNvSpPr>
          <p:nvPr/>
        </p:nvSpPr>
        <p:spPr>
          <a:xfrm>
            <a:off x="461260" y="2024943"/>
            <a:ext cx="11260242" cy="51030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GCP Console provides a centralized web-based dashboard.</a:t>
            </a:r>
          </a:p>
          <a:p>
            <a:pPr marL="34290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Users can monitor resource  usage, performance, and billing details.</a:t>
            </a:r>
          </a:p>
          <a:p>
            <a:pPr marL="34290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Services such as compute, storage, and networking can be managed from one interface.</a:t>
            </a:r>
          </a:p>
          <a:p>
            <a:pPr marL="34290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logs and alerts help in tracking system health and issues.</a:t>
            </a:r>
          </a:p>
        </p:txBody>
      </p:sp>
    </p:spTree>
    <p:extLst>
      <p:ext uri="{BB962C8B-B14F-4D97-AF65-F5344CB8AC3E}">
        <p14:creationId xmlns:p14="http://schemas.microsoft.com/office/powerpoint/2010/main" val="25061700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99252-C2AB-C3AE-7CE6-126D290D6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AD8663A2-094F-345F-75C6-9813F33432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370" y="187720"/>
            <a:ext cx="9358840" cy="896145"/>
          </a:xfrm>
          <a:noFill/>
          <a:ln w="34925" cmpd="sng">
            <a:solidFill>
              <a:schemeClr val="accent1">
                <a:shade val="50000"/>
              </a:schemeClr>
            </a:solidFill>
          </a:ln>
        </p:spPr>
        <p:txBody>
          <a:bodyPr>
            <a:normAutofit/>
          </a:bodyPr>
          <a:lstStyle/>
          <a:p>
            <a:pPr lvl="0" algn="ctr">
              <a:lnSpc>
                <a:spcPct val="107000"/>
              </a:lnSpc>
            </a:pPr>
            <a:r>
              <a:rPr lang="en-US" sz="3200" b="1" dirty="0">
                <a:solidFill>
                  <a:srgbClr val="C00000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Architecture Overview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420245-79A8-53FB-469D-4E1A91CF5015}"/>
              </a:ext>
            </a:extLst>
          </p:cNvPr>
          <p:cNvSpPr/>
          <p:nvPr/>
        </p:nvSpPr>
        <p:spPr>
          <a:xfrm>
            <a:off x="120072" y="90089"/>
            <a:ext cx="11942619" cy="6677822"/>
          </a:xfrm>
          <a:prstGeom prst="rect">
            <a:avLst/>
          </a:prstGeom>
          <a:noFill/>
          <a:ln w="73025" cmpd="sng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D723966-5050-E755-23D1-8EB60A478F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889" y="187720"/>
            <a:ext cx="873901" cy="1000553"/>
          </a:xfrm>
          <a:prstGeom prst="rect">
            <a:avLst/>
          </a:prstGeom>
          <a:blipFill>
            <a:blip r:embed="rId4"/>
            <a:tile tx="0" ty="0" sx="100000" sy="100000" flip="none" algn="tl"/>
          </a:blipFill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7570344-1217-573F-3B5B-035B2819B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E106B-8933-499E-B64E-7DFAEA3B4E58}" type="slidenum">
              <a:rPr lang="en-IN" smtClean="0"/>
              <a:t>7</a:t>
            </a:fld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0F0221-4B2B-785D-2915-BDC66F5F80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889" y="1181496"/>
            <a:ext cx="11260242" cy="5103019"/>
          </a:xfrm>
        </p:spPr>
        <p:txBody>
          <a:bodyPr>
            <a:normAutofit/>
          </a:bodyPr>
          <a:lstStyle/>
          <a:p>
            <a:pPr marL="0" lvl="0" indent="0" algn="just">
              <a:lnSpc>
                <a:spcPct val="107000"/>
              </a:lnSpc>
              <a:spcAft>
                <a:spcPts val="800"/>
              </a:spcAft>
              <a:buNone/>
            </a:pPr>
            <a:endParaRPr lang="en-IN" sz="40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IN" sz="4400" dirty="0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28569004-3F6D-9E8F-1F48-7613584E65E8}"/>
              </a:ext>
            </a:extLst>
          </p:cNvPr>
          <p:cNvSpPr txBox="1">
            <a:spLocks/>
          </p:cNvSpPr>
          <p:nvPr/>
        </p:nvSpPr>
        <p:spPr>
          <a:xfrm>
            <a:off x="461260" y="2024943"/>
            <a:ext cx="11260242" cy="51030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GCP follows a layered cloud architecture model.</a:t>
            </a:r>
          </a:p>
          <a:p>
            <a:pPr marL="34290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consists of infrastructure, platform services, and application-level services.</a:t>
            </a:r>
          </a:p>
          <a:p>
            <a:pPr marL="34290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Each layer is designed to work independently while integrating seamlessly</a:t>
            </a:r>
          </a:p>
          <a:p>
            <a:pPr marL="34290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architecture ensures flexibility, scalability, and reliability.</a:t>
            </a:r>
          </a:p>
        </p:txBody>
      </p:sp>
    </p:spTree>
    <p:extLst>
      <p:ext uri="{BB962C8B-B14F-4D97-AF65-F5344CB8AC3E}">
        <p14:creationId xmlns:p14="http://schemas.microsoft.com/office/powerpoint/2010/main" val="14807301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C5054A-A3FA-DE41-66E3-1BA99C7F3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CDF0BC60-3B42-A344-CC5F-D607354ABB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370" y="187720"/>
            <a:ext cx="9358840" cy="896145"/>
          </a:xfrm>
          <a:noFill/>
          <a:ln w="34925" cmpd="sng">
            <a:solidFill>
              <a:schemeClr val="accent1">
                <a:shade val="50000"/>
              </a:schemeClr>
            </a:solidFill>
          </a:ln>
        </p:spPr>
        <p:txBody>
          <a:bodyPr>
            <a:normAutofit/>
          </a:bodyPr>
          <a:lstStyle/>
          <a:p>
            <a:pPr lvl="0" algn="ctr">
              <a:lnSpc>
                <a:spcPct val="107000"/>
              </a:lnSpc>
            </a:pPr>
            <a:r>
              <a:rPr lang="en-US" sz="3200" b="1" dirty="0">
                <a:solidFill>
                  <a:srgbClr val="C00000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Core GCP Services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54533F5-1C72-7995-ABB2-81F97F691344}"/>
              </a:ext>
            </a:extLst>
          </p:cNvPr>
          <p:cNvSpPr/>
          <p:nvPr/>
        </p:nvSpPr>
        <p:spPr>
          <a:xfrm>
            <a:off x="120072" y="90089"/>
            <a:ext cx="11942619" cy="6677822"/>
          </a:xfrm>
          <a:prstGeom prst="rect">
            <a:avLst/>
          </a:prstGeom>
          <a:noFill/>
          <a:ln w="73025" cmpd="sng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66D25DC-5DA2-285B-9EEA-876AA6FA36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889" y="187720"/>
            <a:ext cx="873901" cy="1000553"/>
          </a:xfrm>
          <a:prstGeom prst="rect">
            <a:avLst/>
          </a:prstGeom>
          <a:blipFill>
            <a:blip r:embed="rId4"/>
            <a:tile tx="0" ty="0" sx="100000" sy="100000" flip="none" algn="tl"/>
          </a:blipFill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56203D8-8E81-B00B-DF9F-2EFCDD66D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E106B-8933-499E-B64E-7DFAEA3B4E58}" type="slidenum">
              <a:rPr lang="en-IN" smtClean="0"/>
              <a:t>8</a:t>
            </a:fld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D2C693-21DB-87E5-83A4-00E3DC793B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889" y="1181496"/>
            <a:ext cx="11260242" cy="5103019"/>
          </a:xfrm>
        </p:spPr>
        <p:txBody>
          <a:bodyPr>
            <a:normAutofit/>
          </a:bodyPr>
          <a:lstStyle/>
          <a:p>
            <a:pPr marL="0" lvl="0" indent="0" algn="just">
              <a:lnSpc>
                <a:spcPct val="107000"/>
              </a:lnSpc>
              <a:spcAft>
                <a:spcPts val="800"/>
              </a:spcAft>
              <a:buNone/>
            </a:pPr>
            <a:endParaRPr lang="en-IN" sz="40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IN" sz="4400" dirty="0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F6AC06F4-3E78-42DC-F31E-2E4CAD46D03A}"/>
              </a:ext>
            </a:extLst>
          </p:cNvPr>
          <p:cNvSpPr txBox="1">
            <a:spLocks/>
          </p:cNvSpPr>
          <p:nvPr/>
        </p:nvSpPr>
        <p:spPr>
          <a:xfrm>
            <a:off x="461260" y="2024943"/>
            <a:ext cx="11260242" cy="51030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 Services </a:t>
            </a:r>
          </a:p>
          <a:p>
            <a:pPr marL="34290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Storage Services</a:t>
            </a:r>
          </a:p>
          <a:p>
            <a:pPr marL="34290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Networking Services</a:t>
            </a:r>
          </a:p>
          <a:p>
            <a:pPr marL="34290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Services</a:t>
            </a:r>
          </a:p>
          <a:p>
            <a:pPr marL="34290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&amp; Analytics Services </a:t>
            </a:r>
          </a:p>
        </p:txBody>
      </p:sp>
    </p:spTree>
    <p:extLst>
      <p:ext uri="{BB962C8B-B14F-4D97-AF65-F5344CB8AC3E}">
        <p14:creationId xmlns:p14="http://schemas.microsoft.com/office/powerpoint/2010/main" val="818698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D3A40A1E-15C9-4F5B-92E3-A3DA09271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370" y="187720"/>
            <a:ext cx="9358840" cy="896145"/>
          </a:xfrm>
          <a:noFill/>
          <a:ln w="34925" cmpd="sng">
            <a:solidFill>
              <a:schemeClr val="accent1">
                <a:shade val="50000"/>
              </a:schemeClr>
            </a:solidFill>
          </a:ln>
        </p:spPr>
        <p:txBody>
          <a:bodyPr>
            <a:normAutofit/>
          </a:bodyPr>
          <a:lstStyle/>
          <a:p>
            <a:pPr lvl="0" algn="ctr">
              <a:lnSpc>
                <a:spcPct val="107000"/>
              </a:lnSpc>
            </a:pPr>
            <a:r>
              <a:rPr lang="en-US" sz="3200" b="1" dirty="0">
                <a:solidFill>
                  <a:srgbClr val="C00000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Use-Case Mapping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6F93BCC-7F94-40D4-81F8-9237CC4EC1FD}"/>
              </a:ext>
            </a:extLst>
          </p:cNvPr>
          <p:cNvSpPr/>
          <p:nvPr/>
        </p:nvSpPr>
        <p:spPr>
          <a:xfrm>
            <a:off x="120072" y="90089"/>
            <a:ext cx="11942619" cy="6677822"/>
          </a:xfrm>
          <a:prstGeom prst="rect">
            <a:avLst/>
          </a:prstGeom>
          <a:noFill/>
          <a:ln w="73025" cmpd="sng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6D76DE2-433A-4ED7-BD89-8E95C1DFB4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889" y="187720"/>
            <a:ext cx="873901" cy="1000553"/>
          </a:xfrm>
          <a:prstGeom prst="rect">
            <a:avLst/>
          </a:prstGeom>
          <a:blipFill>
            <a:blip r:embed="rId4"/>
            <a:tile tx="0" ty="0" sx="100000" sy="100000" flip="none" algn="tl"/>
          </a:blipFill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5B786F-E1BA-4BF1-B3B9-7B4FA0A61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E106B-8933-499E-B64E-7DFAEA3B4E58}" type="slidenum">
              <a:rPr lang="en-IN" smtClean="0"/>
              <a:t>9</a:t>
            </a:fld>
            <a:endParaRPr lang="en-IN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599ABE86-8E3D-4DE3-2B8C-7828A11BA4D7}"/>
              </a:ext>
            </a:extLst>
          </p:cNvPr>
          <p:cNvSpPr txBox="1">
            <a:spLocks/>
          </p:cNvSpPr>
          <p:nvPr/>
        </p:nvSpPr>
        <p:spPr>
          <a:xfrm>
            <a:off x="603669" y="1664892"/>
            <a:ext cx="11260242" cy="51030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 Applications</a:t>
            </a:r>
          </a:p>
          <a:p>
            <a:pPr marL="34290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Analytics</a:t>
            </a:r>
          </a:p>
          <a:p>
            <a:pPr marL="34290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IOT Applications</a:t>
            </a:r>
          </a:p>
          <a:p>
            <a:pPr marL="34290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</a:t>
            </a:r>
          </a:p>
          <a:p>
            <a:pPr marL="34290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Enterprise Solutions</a:t>
            </a:r>
          </a:p>
        </p:txBody>
      </p:sp>
    </p:spTree>
    <p:extLst>
      <p:ext uri="{BB962C8B-B14F-4D97-AF65-F5344CB8AC3E}">
        <p14:creationId xmlns:p14="http://schemas.microsoft.com/office/powerpoint/2010/main" val="8912588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F77E41-0D98-F0E3-9C1A-7D9957F21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28B596E9-6032-39D5-3CCE-387ECC869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370" y="187720"/>
            <a:ext cx="9358840" cy="896145"/>
          </a:xfrm>
          <a:noFill/>
          <a:ln w="34925" cmpd="sng">
            <a:solidFill>
              <a:schemeClr val="accent1">
                <a:shade val="50000"/>
              </a:schemeClr>
            </a:solidFill>
          </a:ln>
        </p:spPr>
        <p:txBody>
          <a:bodyPr>
            <a:normAutofit/>
          </a:bodyPr>
          <a:lstStyle/>
          <a:p>
            <a:pPr lvl="0" algn="ctr">
              <a:lnSpc>
                <a:spcPct val="107000"/>
              </a:lnSpc>
            </a:pPr>
            <a:r>
              <a:rPr lang="en-US" sz="3200" b="1" dirty="0">
                <a:solidFill>
                  <a:srgbClr val="C00000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Limitations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A627C8E-38BD-35C1-328B-0426D7D681DC}"/>
              </a:ext>
            </a:extLst>
          </p:cNvPr>
          <p:cNvSpPr/>
          <p:nvPr/>
        </p:nvSpPr>
        <p:spPr>
          <a:xfrm>
            <a:off x="120072" y="90089"/>
            <a:ext cx="11942619" cy="6677822"/>
          </a:xfrm>
          <a:prstGeom prst="rect">
            <a:avLst/>
          </a:prstGeom>
          <a:noFill/>
          <a:ln w="73025" cmpd="sng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3EED0C4-23E6-7350-B630-2BE5AB9A2A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889" y="187720"/>
            <a:ext cx="873901" cy="1000553"/>
          </a:xfrm>
          <a:prstGeom prst="rect">
            <a:avLst/>
          </a:prstGeom>
          <a:blipFill>
            <a:blip r:embed="rId4"/>
            <a:tile tx="0" ty="0" sx="100000" sy="100000" flip="none" algn="tl"/>
          </a:blipFill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4B4B4CB-923C-0B66-218B-0FFC4B418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E106B-8933-499E-B64E-7DFAEA3B4E58}" type="slidenum">
              <a:rPr lang="en-IN" smtClean="0"/>
              <a:t>10</a:t>
            </a:fld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088FBD-80EB-03D4-0A48-3204232732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889" y="1181496"/>
            <a:ext cx="11260242" cy="5103019"/>
          </a:xfrm>
        </p:spPr>
        <p:txBody>
          <a:bodyPr>
            <a:normAutofit/>
          </a:bodyPr>
          <a:lstStyle/>
          <a:p>
            <a:pPr marL="0" lvl="0" indent="0" algn="just">
              <a:lnSpc>
                <a:spcPct val="107000"/>
              </a:lnSpc>
              <a:spcAft>
                <a:spcPts val="800"/>
              </a:spcAft>
              <a:buNone/>
            </a:pPr>
            <a:endParaRPr lang="en-IN" sz="40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IN" sz="4400" dirty="0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040494A0-C0F6-FC65-D18C-A3A41D1F338B}"/>
              </a:ext>
            </a:extLst>
          </p:cNvPr>
          <p:cNvSpPr txBox="1">
            <a:spLocks/>
          </p:cNvSpPr>
          <p:nvPr/>
        </p:nvSpPr>
        <p:spPr>
          <a:xfrm>
            <a:off x="461260" y="2024943"/>
            <a:ext cx="11260242" cy="51030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Requires technical knowledge to manage advanced services.</a:t>
            </a:r>
          </a:p>
          <a:p>
            <a:pPr marL="34290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Cost management can be challenging without proper monitoring </a:t>
            </a:r>
          </a:p>
          <a:p>
            <a:pPr marL="34290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Limited offline access as it depends on the internet connectivity.</a:t>
            </a:r>
          </a:p>
          <a:p>
            <a:pPr marL="34290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Migration from legacy systems can be complex </a:t>
            </a:r>
          </a:p>
        </p:txBody>
      </p:sp>
    </p:spTree>
    <p:extLst>
      <p:ext uri="{BB962C8B-B14F-4D97-AF65-F5344CB8AC3E}">
        <p14:creationId xmlns:p14="http://schemas.microsoft.com/office/powerpoint/2010/main" val="1512990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395545-946E-EC60-EF87-6C65CB76A4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C1DF775D-6FE8-3DE9-4E5A-C326B4880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370" y="187720"/>
            <a:ext cx="9358840" cy="896145"/>
          </a:xfrm>
          <a:noFill/>
          <a:ln w="34925" cmpd="sng">
            <a:solidFill>
              <a:schemeClr val="accent1">
                <a:shade val="50000"/>
              </a:schemeClr>
            </a:solidFill>
          </a:ln>
        </p:spPr>
        <p:txBody>
          <a:bodyPr>
            <a:normAutofit/>
          </a:bodyPr>
          <a:lstStyle/>
          <a:p>
            <a:pPr lvl="0" algn="ctr">
              <a:lnSpc>
                <a:spcPct val="107000"/>
              </a:lnSpc>
            </a:pPr>
            <a:r>
              <a:rPr lang="en-US" sz="3200" b="1" dirty="0">
                <a:solidFill>
                  <a:srgbClr val="C00000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Future Scope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7CF8B9B-F0FE-2DB1-38EF-78C0E3911ECC}"/>
              </a:ext>
            </a:extLst>
          </p:cNvPr>
          <p:cNvSpPr/>
          <p:nvPr/>
        </p:nvSpPr>
        <p:spPr>
          <a:xfrm>
            <a:off x="120072" y="90089"/>
            <a:ext cx="11942619" cy="6677822"/>
          </a:xfrm>
          <a:prstGeom prst="rect">
            <a:avLst/>
          </a:prstGeom>
          <a:noFill/>
          <a:ln w="73025" cmpd="sng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9FCE795-5A44-3B86-809C-FAE541110F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889" y="187720"/>
            <a:ext cx="873901" cy="1000553"/>
          </a:xfrm>
          <a:prstGeom prst="rect">
            <a:avLst/>
          </a:prstGeom>
          <a:blipFill>
            <a:blip r:embed="rId4"/>
            <a:tile tx="0" ty="0" sx="100000" sy="100000" flip="none" algn="tl"/>
          </a:blipFill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881762A-CF0D-E358-33D0-D2C7DCA8F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E106B-8933-499E-B64E-7DFAEA3B4E58}" type="slidenum">
              <a:rPr lang="en-IN" smtClean="0"/>
              <a:t>11</a:t>
            </a:fld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B232B1-0C6D-C474-AEBA-A16777F752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889" y="1181496"/>
            <a:ext cx="11260242" cy="5103019"/>
          </a:xfrm>
        </p:spPr>
        <p:txBody>
          <a:bodyPr>
            <a:normAutofit/>
          </a:bodyPr>
          <a:lstStyle/>
          <a:p>
            <a:pPr marL="0" lvl="0" indent="0" algn="just">
              <a:lnSpc>
                <a:spcPct val="107000"/>
              </a:lnSpc>
              <a:spcAft>
                <a:spcPts val="800"/>
              </a:spcAft>
              <a:buNone/>
            </a:pPr>
            <a:endParaRPr lang="en-IN" sz="40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IN" sz="4400" dirty="0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EBF0EC60-C274-E0D5-2AC5-2F2FD7E9E2ED}"/>
              </a:ext>
            </a:extLst>
          </p:cNvPr>
          <p:cNvSpPr txBox="1">
            <a:spLocks/>
          </p:cNvSpPr>
          <p:nvPr/>
        </p:nvSpPr>
        <p:spPr>
          <a:xfrm>
            <a:off x="461260" y="2024943"/>
            <a:ext cx="11260242" cy="51030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Increasing adoption </a:t>
            </a:r>
            <a:r>
              <a:rPr lang="en-IN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og</a:t>
            </a: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AI-driven cloud solutions</a:t>
            </a:r>
          </a:p>
          <a:p>
            <a:pPr marL="34290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Expansions of IOT and edge computing support.</a:t>
            </a:r>
          </a:p>
          <a:p>
            <a:pPr marL="34290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Enhanced automation and serverless computing models.</a:t>
            </a:r>
          </a:p>
          <a:p>
            <a:pPr marL="34290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Greater focus on sustainability and energy-efficient data </a:t>
            </a:r>
            <a:r>
              <a:rPr lang="en-IN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centers</a:t>
            </a: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337253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D3A40A1E-15C9-4F5B-92E3-A3DA09271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370" y="187720"/>
            <a:ext cx="9358840" cy="896145"/>
          </a:xfrm>
          <a:noFill/>
          <a:ln w="34925" cmpd="sng">
            <a:solidFill>
              <a:schemeClr val="accent1">
                <a:shade val="50000"/>
              </a:schemeClr>
            </a:solidFill>
          </a:ln>
        </p:spPr>
        <p:txBody>
          <a:bodyPr>
            <a:normAutofit/>
          </a:bodyPr>
          <a:lstStyle/>
          <a:p>
            <a:pPr lvl="0" algn="ctr">
              <a:lnSpc>
                <a:spcPct val="107000"/>
              </a:lnSpc>
            </a:pPr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6F93BCC-7F94-40D4-81F8-9237CC4EC1FD}"/>
              </a:ext>
            </a:extLst>
          </p:cNvPr>
          <p:cNvSpPr/>
          <p:nvPr/>
        </p:nvSpPr>
        <p:spPr>
          <a:xfrm>
            <a:off x="120072" y="90089"/>
            <a:ext cx="11942619" cy="6677822"/>
          </a:xfrm>
          <a:prstGeom prst="rect">
            <a:avLst/>
          </a:prstGeom>
          <a:noFill/>
          <a:ln w="73025" cmpd="sng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6D76DE2-433A-4ED7-BD89-8E95C1DFB4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889" y="187720"/>
            <a:ext cx="873901" cy="1000553"/>
          </a:xfrm>
          <a:prstGeom prst="rect">
            <a:avLst/>
          </a:prstGeom>
          <a:blipFill>
            <a:blip r:embed="rId4"/>
            <a:tile tx="0" ty="0" sx="100000" sy="100000" flip="none" algn="tl"/>
          </a:blipFill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5B786F-E1BA-4BF1-B3B9-7B4FA0A61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E106B-8933-499E-B64E-7DFAEA3B4E58}" type="slidenum">
              <a:rPr lang="en-IN" smtClean="0"/>
              <a:t>12</a:t>
            </a:fld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11D8D6-990D-4463-B012-A9EE74C3D6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184" y="1181496"/>
            <a:ext cx="11629016" cy="5103019"/>
          </a:xfrm>
        </p:spPr>
        <p:txBody>
          <a:bodyPr>
            <a:noAutofit/>
          </a:bodyPr>
          <a:lstStyle/>
          <a:p>
            <a:pPr marL="0" lvl="0" indent="0" algn="just">
              <a:lnSpc>
                <a:spcPct val="107000"/>
              </a:lnSpc>
              <a:spcAft>
                <a:spcPts val="800"/>
              </a:spcAft>
              <a:buNone/>
            </a:pPr>
            <a:endParaRPr lang="en-IN" sz="1400" dirty="0">
              <a:solidFill>
                <a:schemeClr val="tx2"/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1400" dirty="0">
              <a:latin typeface="Bookman Old Style" panose="02050604050505020204" pitchFamily="18" charset="0"/>
            </a:endParaRP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BD5FA940-C695-4B8B-A3F7-035C22BF8C4E}"/>
              </a:ext>
            </a:extLst>
          </p:cNvPr>
          <p:cNvSpPr txBox="1">
            <a:spLocks/>
          </p:cNvSpPr>
          <p:nvPr/>
        </p:nvSpPr>
        <p:spPr>
          <a:xfrm>
            <a:off x="461260" y="2024943"/>
            <a:ext cx="11260242" cy="51030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 algn="just">
              <a:lnSpc>
                <a:spcPct val="107000"/>
              </a:lnSpc>
              <a:buFont typeface="+mj-lt"/>
              <a:buAutoNum type="arabicPeriod"/>
            </a:pP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https://cloud.google.com/docs</a:t>
            </a:r>
            <a:endParaRPr lang="en-IN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just">
              <a:lnSpc>
                <a:spcPct val="107000"/>
              </a:lnSpc>
              <a:buFont typeface="+mj-lt"/>
              <a:buAutoNum type="arabicPeriod"/>
            </a:pP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https://cloud.google.com/architecture</a:t>
            </a:r>
            <a:endParaRPr lang="en-IN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just">
              <a:lnSpc>
                <a:spcPct val="107000"/>
              </a:lnSpc>
              <a:buFont typeface="+mj-lt"/>
              <a:buAutoNum type="arabicPeriod"/>
            </a:pP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https://cloud.google.com/security</a:t>
            </a:r>
            <a:endParaRPr lang="en-IN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just">
              <a:lnSpc>
                <a:spcPct val="107000"/>
              </a:lnSpc>
              <a:buFont typeface="+mj-lt"/>
              <a:buAutoNum type="arabicPeriod"/>
            </a:pP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Mell, &amp; Grance T.(2011). The NIST Definition of cloud computing, </a:t>
            </a:r>
          </a:p>
          <a:p>
            <a:pPr marL="514350" indent="-514350" algn="just">
              <a:lnSpc>
                <a:spcPct val="107000"/>
              </a:lnSpc>
              <a:buFont typeface="+mj-lt"/>
              <a:buAutoNum type="arabicPeriod"/>
            </a:pP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Buyya, R, Broberg, J, &amp; Goscinski, A(2011). Cloud Computing: Principles and Paradigms Wiley Publishing.</a:t>
            </a:r>
          </a:p>
        </p:txBody>
      </p:sp>
    </p:spTree>
    <p:extLst>
      <p:ext uri="{BB962C8B-B14F-4D97-AF65-F5344CB8AC3E}">
        <p14:creationId xmlns:p14="http://schemas.microsoft.com/office/powerpoint/2010/main" val="38924842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</TotalTime>
  <Words>506</Words>
  <Application>Microsoft Office PowerPoint</Application>
  <PresentationFormat>Widescreen</PresentationFormat>
  <Paragraphs>98</Paragraphs>
  <Slides>12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</vt:lpstr>
      <vt:lpstr>Bookman Old Style</vt:lpstr>
      <vt:lpstr>Calibri</vt:lpstr>
      <vt:lpstr>Calibri Light</vt:lpstr>
      <vt:lpstr>Libre Baskerville</vt:lpstr>
      <vt:lpstr>Symbol</vt:lpstr>
      <vt:lpstr>Times New Roman</vt:lpstr>
      <vt:lpstr>Office Theme</vt:lpstr>
      <vt:lpstr>PowerPoint Presentation</vt:lpstr>
      <vt:lpstr>Contents</vt:lpstr>
      <vt:lpstr>Introduction</vt:lpstr>
      <vt:lpstr>Data Flow</vt:lpstr>
      <vt:lpstr>Key Features</vt:lpstr>
      <vt:lpstr>Dashboard Exploration</vt:lpstr>
      <vt:lpstr>Architecture Overview</vt:lpstr>
      <vt:lpstr>Core GCP Services</vt:lpstr>
      <vt:lpstr>Use-Case Mapping </vt:lpstr>
      <vt:lpstr>Limitations </vt:lpstr>
      <vt:lpstr>Future Scope 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B Nayana1</cp:lastModifiedBy>
  <cp:revision>216</cp:revision>
  <dcterms:modified xsi:type="dcterms:W3CDTF">2026-01-23T19:18:05Z</dcterms:modified>
</cp:coreProperties>
</file>